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5415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0D4AA">
              <a:alpha val="10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00D4AA">
              <a:alpha val="5000"/>
            </a:srgbClr>
          </a:solidFill>
          <a:ln w="63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365760" y="4389120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94360" y="4389120"/>
            <a:ext cx="109728" cy="109728"/>
          </a:xfrm>
          <a:prstGeom prst="ellipse">
            <a:avLst/>
          </a:prstGeom>
          <a:solidFill>
            <a:srgbClr val="00D4AA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22960" y="4389120"/>
            <a:ext cx="109728" cy="109728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DEFESA PÚBLICA | ARTIGO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00584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Resiliência de Camada Física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 Redes 6G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 Neural de Distorções Não-Lineares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 Incerteza de CSI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1828800" cy="2743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Emidio  ·  Emanuel Reino  ·  Pedro William  ·  Gustavo Wanderley  ·  Pedro José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Federal do Agreste de Pernambuco (UFAPE) — Garanhuns, PE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Orientador: Prof. Sergio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Mendonç</a:t>
            </a:r>
            <a:endParaRPr lang="en-US" sz="10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480560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480560"/>
            <a:ext cx="256032" cy="256032"/>
          </a:xfrm>
          <a:prstGeom prst="rect">
            <a:avLst/>
          </a:prstGeom>
        </p:spPr>
      </p:pic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480560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UFAPE | Segurança da Informação | 2025.2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SUMÁRIO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457200" cy="34747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05256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8686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e Motivação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1344168"/>
            <a:ext cx="457200" cy="34747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48640" y="13441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38074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134416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e Contribuições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1819656"/>
            <a:ext cx="457200" cy="34747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1"/>
          <p:cNvSpPr/>
          <p:nvPr/>
        </p:nvSpPr>
        <p:spPr>
          <a:xfrm>
            <a:off x="548640" y="18196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85623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181965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Trabalhos Relacionados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2295144"/>
            <a:ext cx="457200" cy="34747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4"/>
          <p:cNvSpPr/>
          <p:nvPr/>
        </p:nvSpPr>
        <p:spPr>
          <a:xfrm>
            <a:off x="548640" y="229514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233172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229514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do Sistema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548640" y="2770632"/>
            <a:ext cx="457200" cy="34747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17"/>
          <p:cNvSpPr/>
          <p:nvPr/>
        </p:nvSpPr>
        <p:spPr>
          <a:xfrm>
            <a:off x="548640" y="27706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2807208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54480" y="27706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Detecção (DNN)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548640" y="3246120"/>
            <a:ext cx="457200" cy="34747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0"/>
          <p:cNvSpPr/>
          <p:nvPr/>
        </p:nvSpPr>
        <p:spPr>
          <a:xfrm>
            <a:off x="548640" y="32461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3282696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554480" y="32461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Experimentais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548640" y="3721608"/>
            <a:ext cx="457200" cy="3474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3"/>
          <p:cNvSpPr/>
          <p:nvPr/>
        </p:nvSpPr>
        <p:spPr>
          <a:xfrm>
            <a:off x="548640" y="37216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2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3758184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554480" y="37216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e Trabalhos Futuros</a:t>
            </a:r>
            <a:endParaRPr lang="en-US" sz="1400" dirty="0"/>
          </a:p>
        </p:txBody>
      </p:sp>
      <p:sp>
        <p:nvSpPr>
          <p:cNvPr id="34" name="Shape 25"/>
          <p:cNvSpPr/>
          <p:nvPr/>
        </p:nvSpPr>
        <p:spPr>
          <a:xfrm>
            <a:off x="548640" y="4197096"/>
            <a:ext cx="457200" cy="3474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26"/>
          <p:cNvSpPr/>
          <p:nvPr/>
        </p:nvSpPr>
        <p:spPr>
          <a:xfrm>
            <a:off x="548640" y="41970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2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3000" y="4233672"/>
            <a:ext cx="274320" cy="27432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1554480" y="419709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e Reprodutibilidade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UFAPE | Segurança da Informação | 2025.2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INTRODUÇÃO E MOTIVAÇÃO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54864" cy="4572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77240" y="868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6G exigem modulações densas (16-QAM) para alta eficiência espectral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" cy="4572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15087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Amplificadores de Potência (HPA) operam perto da saturação → distorções AM/AM severas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54864" cy="4572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7240" y="21488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veiculares (V2X) com hipermobilidade → CSI imperfeita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54864" cy="4572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27889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Receptores lineares clássicos (Zero-Forcing) colapsam nesse cenário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60720" y="868680"/>
            <a:ext cx="3017520" cy="347472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943600" y="960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WIRETAP CHANNEL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0" y="1371600"/>
            <a:ext cx="1280160" cy="4114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583680" y="1371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Alice (TX)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HPA distortion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583680" y="2148840"/>
            <a:ext cx="128016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583680" y="2148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Canal V2X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89320" y="2880360"/>
            <a:ext cx="1143000" cy="4114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989320" y="28803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 (RX)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97880" y="33101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imperfeita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406640" y="2880360"/>
            <a:ext cx="1143000" cy="411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406640" y="28803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 (Spy)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0" y="33101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CSI → cega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400800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          ↘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UFAPE | Segurança da Informação | 2025.2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PROBLEMA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2560320" cy="219456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54864" cy="21945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0515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Distorção HPA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17556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(AM/AM)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2057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satura e comprime a constelação 16-QAM de forma assimétrica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15468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3429000" y="868680"/>
            <a:ext cx="2560320" cy="219456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3429000" y="868680"/>
            <a:ext cx="54864" cy="21945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05156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11880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Incerteza CSI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611880" y="17556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(Canal V2X)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611880" y="2057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mobilidade gera estimativas ruidosas e instáveis do canal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03504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2400" dirty="0"/>
          </a:p>
        </p:txBody>
      </p:sp>
      <p:sp>
        <p:nvSpPr>
          <p:cNvPr id="20" name="Shape 16"/>
          <p:cNvSpPr/>
          <p:nvPr/>
        </p:nvSpPr>
        <p:spPr>
          <a:xfrm>
            <a:off x="6309360" y="868680"/>
            <a:ext cx="2560320" cy="219456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7"/>
          <p:cNvSpPr/>
          <p:nvPr/>
        </p:nvSpPr>
        <p:spPr>
          <a:xfrm>
            <a:off x="6309360" y="868680"/>
            <a:ext cx="54864" cy="21945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05156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92240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Colapso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492240" y="17556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(Receptores)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492240" y="2057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ZF atinge piso de erro; ML degrada exponencialmente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48640" y="3383280"/>
            <a:ext cx="8046720" cy="64008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2"/>
          <p:cNvSpPr/>
          <p:nvPr/>
        </p:nvSpPr>
        <p:spPr>
          <a:xfrm>
            <a:off x="548640" y="3383280"/>
            <a:ext cx="54864" cy="6400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3"/>
          <p:cNvSpPr/>
          <p:nvPr/>
        </p:nvSpPr>
        <p:spPr>
          <a:xfrm>
            <a:off x="822960" y="34290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garantir comunicação segura e confiável sob essas condições hostis?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UFAPE | Segurança da Informação | 2025.2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OBJETIVO E CONTRIBUIÇÕES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8046720" cy="68580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822960"/>
            <a:ext cx="54864" cy="6858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22960" y="8686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 uma arquitetura de Segurança de Camada Física (PLS) baseada em DNN para cenários 6G com distorção não-linear e CSI imperfeita.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3886200" cy="109728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54864" cy="10972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731520" y="1874520"/>
            <a:ext cx="365760" cy="292608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31520" y="187452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18470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Modelagem HPA + CSI Imperfeita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em banda base com distorção AM/AM e incerteza estocástica de canal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737360"/>
            <a:ext cx="3886200" cy="109728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709160" y="1737360"/>
            <a:ext cx="54864" cy="10972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892040" y="1874520"/>
            <a:ext cx="365760" cy="29260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892040" y="187452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0" y="18470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Soft-Demapping Neural Cego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para demapeamento bit-a-bit de 16-QAM sem conhecimento do amplificador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063240"/>
            <a:ext cx="3886200" cy="109728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548640" y="306324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731520" y="3200400"/>
            <a:ext cx="365760" cy="2926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31520" y="32004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34440" y="31729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Prova de Resiliência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3566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supera ML sob alta variância no erro de estimação de canal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063240"/>
            <a:ext cx="3886200" cy="109728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4709160" y="3063240"/>
            <a:ext cx="54864" cy="10972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4892040" y="3200400"/>
            <a:ext cx="365760" cy="292608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892040" y="32004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31729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Consolidação do Secrecy Gap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3566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zero para Bob + BER 50% para Eve com FEC simples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UFAPE | Segurança da Informação | 2025.2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TRABALHOS RELACIONADOS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417320" y="914400"/>
            <a:ext cx="27432" cy="3017520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280160" y="941832"/>
            <a:ext cx="292608" cy="292608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1948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868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Shannon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83080" y="10698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fundamental de canais ruidosos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80160" y="1444752"/>
            <a:ext cx="292608" cy="292608"/>
          </a:xfrm>
          <a:prstGeom prst="ellipse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14173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83080" y="1371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Bloch &amp; Barros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15727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 da Segurança de Camada Física (PLS)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280160" y="1947672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57200" y="19202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O'Shea &amp; Hoydis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83080" y="20756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na camada física (Autoencoders)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280160" y="2450592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57200" y="24231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2377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 et al.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83080" y="2578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supera métodos lineares em estimação OFDM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80160" y="2953512"/>
            <a:ext cx="292608" cy="292608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57200" y="29260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83080" y="2880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Kim et al.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783080" y="3081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para mitigação de não-linearidades HPA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280160" y="3456432"/>
            <a:ext cx="292608" cy="292608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57200" y="34290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83080" y="33832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Ara &amp; Kelley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783080" y="35844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PLS nativo com demapeadores neurais (BPSK)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977640"/>
            <a:ext cx="8046720" cy="59436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548640" y="3977640"/>
            <a:ext cx="54864" cy="5943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69080"/>
            <a:ext cx="320040" cy="32004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234440" y="40233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LACUNA: Nenhum trabalho estressou a arquitetura neural sob a tripla convergência: 16-QAM + distorção HPA + degradação de CSI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UFAPE | Segurança da Informação | 2025.2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MODELAGEM DO SISTEMA E AMEAÇAS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097280" cy="6400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54480" y="10972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691640" y="1005840"/>
            <a:ext cx="1097280" cy="6400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691640" y="1005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16-QAM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(Gray)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88920" y="10972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926080" y="1005840"/>
            <a:ext cx="1097280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926080" y="1005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α=0.15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23360" y="10972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160520" y="1005840"/>
            <a:ext cx="1097280" cy="6400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160520" y="1005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Canal hB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57800" y="10972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394960" y="1005840"/>
            <a:ext cx="1097280" cy="6400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394960" y="1005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(DNN+FEC)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6052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160520" y="1965960"/>
            <a:ext cx="1097280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160520" y="1965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 (cega)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2743200"/>
            <a:ext cx="3749040" cy="100584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548640" y="2743200"/>
            <a:ext cx="54864" cy="10058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7724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SINAL RECEBIDO (BOB)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yB = hB · xnl + nB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xnl = sinal distorcido pelo HPA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2743200"/>
            <a:ext cx="3749040" cy="100584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4846320" y="2743200"/>
            <a:ext cx="54864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507492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CSI IMPERFEITA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7492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ĥB = hB + ecsi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7492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ecsi ~ CN(0, σ²e)  — erro gaussiano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UFAPE | Segurança da Informação | 2025.2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TRANSMISSOR E DISTORÇÃO NÃO-LINEAR (HPA)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8046720" cy="73152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xnl = x · (1 − α|x|²)       onde  α = 0.15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3794760" cy="237744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54864" cy="23774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CONSTELAÇÃO IDEAL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55064" y="3694176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655064" y="3273552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1655064" y="2852928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1655064" y="2432304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2167128" y="3694176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2167128" y="3273552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2167128" y="2852928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2167128" y="2432304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2679192" y="3694176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2679192" y="3273552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2679192" y="2852928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2679192" y="2432304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3191256" y="3694176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3191256" y="3273552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3191256" y="2852928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3191256" y="2432304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77240" y="3886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uniformemente espaçados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1874520"/>
            <a:ext cx="3794760" cy="237744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4800600" y="1874520"/>
            <a:ext cx="54864" cy="23774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502920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CONSTELAÇÃO DISTORCIDA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37374" y="3587103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6004181" y="3246949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6004181" y="2879531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6037374" y="2539377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6451474" y="361436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6433571" y="3261655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6433571" y="2864825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6451474" y="251211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6898766" y="361436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6916669" y="3261655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6916669" y="2864825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6898766" y="251211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7312866" y="3587103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7346059" y="3246949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7346059" y="2879531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7312866" y="2539377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5029200" y="3886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Bordas comprimidas → colisão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deformação assimétrica quebra a premissa de distâncias equidistantes dos receptores convencionais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UFAPE | Segurança da Informação | 2025.2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DE AMEAÇA (WIRETAP CHANNEL)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ENTIDADE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651760" y="914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8046720" cy="64008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54864" cy="6400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0876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34440" y="1417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Alice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651760" y="1417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Transmissor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0" y="1417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2194560"/>
            <a:ext cx="8046720" cy="64008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548640" y="219456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33172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34440" y="2240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2651760" y="2240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 legítimo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029200" y="2240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Possui ĥB (estimativa ruidosa)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18"/>
          <p:cNvSpPr/>
          <p:nvPr/>
        </p:nvSpPr>
        <p:spPr>
          <a:xfrm>
            <a:off x="548640" y="301752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15468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34440" y="3063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2651760" y="3063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Interceptador passivo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029200" y="3063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CSI → cega à fase do canal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48640" y="3886200"/>
            <a:ext cx="8046720" cy="68580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3"/>
          <p:cNvSpPr/>
          <p:nvPr/>
        </p:nvSpPr>
        <p:spPr>
          <a:xfrm>
            <a:off x="548640" y="3886200"/>
            <a:ext cx="54864" cy="6858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023360"/>
            <a:ext cx="320040" cy="3200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234440" y="39319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vantagem de Bob reside na assimetria de CSI. Eve sofre de ambiguidade polar múltipla e é incapaz de decodificar constelações densas.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UFAPE | Segurança da Informação | 2025.2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LIMITAÇÕES DOS DETECTORES CLÁSSICOS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3794760" cy="274320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54864" cy="2743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77240" y="960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ZERO-FORCING (ZF)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x̂zf = y / 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canal afim (modelo linear)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286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Dupla penalidade: amplifica ruído + cego à distorção AM/AM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743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 para Error Floor prematuro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868680"/>
            <a:ext cx="3794760" cy="274320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800600" y="868680"/>
            <a:ext cx="54864" cy="2743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029200" y="960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MAXIMUM LIKELIHOOD (ML)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x̂ml = argmin |y - ĥ·Φ(x)|²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 teórica ótima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2286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conhecimento exato da função do HPA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2743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Degradação exponencial quando CSI degrada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8046720" cy="59436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54864" cy="5943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8229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falham no cenário 6G → necessidade de abordagem data-driven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UFAPE | Segurança da Informação | 2025.2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DEMAPEADOR NEURAL PROFUNDO (DNN)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645920" cy="246888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54864" cy="24688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22960" y="1371600"/>
            <a:ext cx="822960" cy="347472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2960" y="13716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Re{y}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1810512"/>
            <a:ext cx="822960" cy="347472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22960" y="181051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Im{y}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2960" y="2249424"/>
            <a:ext cx="822960" cy="347472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2960" y="224942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Re{ĥ}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22960" y="2688336"/>
            <a:ext cx="822960" cy="347472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22960" y="26883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Im{ĥ}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51760" y="914400"/>
            <a:ext cx="1188720" cy="246888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651760" y="1463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651760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neurônios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51760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06240" y="914400"/>
            <a:ext cx="1188720" cy="246888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206240" y="1463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206240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neurônios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06240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914400"/>
            <a:ext cx="1188720" cy="246888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760720" y="1463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760720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neurônios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60720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11680" y="1828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840480" y="1828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394960" y="1828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949440" y="1828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7315200" y="914400"/>
            <a:ext cx="1463040" cy="246888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7315200" y="914400"/>
            <a:ext cx="54864" cy="24688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7498080" y="1005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SAÍDA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452360" y="1371600"/>
            <a:ext cx="914400" cy="347472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7452360" y="13716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P(b1=1)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452360" y="1810512"/>
            <a:ext cx="914400" cy="347472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7452360" y="18105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P(b2=1)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452360" y="2249424"/>
            <a:ext cx="914400" cy="347472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7452360" y="224942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P(b3=1)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452360" y="2688336"/>
            <a:ext cx="914400" cy="347472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7452360" y="26883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P(b4=1)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315200" y="3063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Sigmoid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8640" y="3611880"/>
            <a:ext cx="1965960" cy="41148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548640" y="3611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Otimizador: Adam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697480" y="3611880"/>
            <a:ext cx="1965960" cy="41148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2697480" y="3611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Loss: Binary Cross-Entropy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46320" y="3611880"/>
            <a:ext cx="1965960" cy="41148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4846320" y="3611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SNR treino: 15 dB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995160" y="3611880"/>
            <a:ext cx="1965960" cy="41148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6995160" y="3611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Épocas: 1000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UFAPE | Segurança da Informação | 2025.2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CORREÇÃO DE ERRO DIRETA (FEC)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8046720" cy="91440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54864" cy="9144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Código de repetição majoritário  R = 1/3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2801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DNN + FEC simples atinge BER=0, esquemas modernos (LDPC) garantiriam performance muito superior.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3794760" cy="228600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54864" cy="22860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48840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8872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 (com CSI)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corrige distorção → BER baixo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" y="2926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 (votação majoritária) elimina erros residuais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 → 0</a:t>
            </a:r>
            <a:endParaRPr lang="en-US" sz="2800" dirty="0"/>
          </a:p>
        </p:txBody>
      </p:sp>
      <p:sp>
        <p:nvSpPr>
          <p:cNvPr id="17" name="Shape 14"/>
          <p:cNvSpPr/>
          <p:nvPr/>
        </p:nvSpPr>
        <p:spPr>
          <a:xfrm>
            <a:off x="4800600" y="2011680"/>
            <a:ext cx="3794760" cy="228600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4800600" y="2011680"/>
            <a:ext cx="54864" cy="22860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14884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4068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 (sem CSI)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02920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consegue compensar fase do canal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029200" y="2926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de erro aleatórios → votação falha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02920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 ≈ 50%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UFAPE | Segurança da Informação | 2025.2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METODOLOGIA DE SIMULAÇÃO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8046720" cy="4114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31520" y="868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Parâmetro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280160"/>
            <a:ext cx="8046720" cy="338328"/>
          </a:xfrm>
          <a:prstGeom prst="rect">
            <a:avLst/>
          </a:prstGeom>
          <a:solidFill>
            <a:srgbClr val="1E2D4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31520" y="1280160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Modulação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280160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16-QAM (Gray Code)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618488"/>
            <a:ext cx="8046720" cy="338328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31520" y="1618488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Comprimento da Mensagem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1618488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2400 bits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1956816"/>
            <a:ext cx="8046720" cy="338328"/>
          </a:xfrm>
          <a:prstGeom prst="rect">
            <a:avLst/>
          </a:prstGeom>
          <a:solidFill>
            <a:srgbClr val="1E2D4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31520" y="1956816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1956816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295144"/>
            <a:ext cx="8046720" cy="338328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31520" y="2295144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 de Saturação HPA (α)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2295144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633472"/>
            <a:ext cx="8046720" cy="338328"/>
          </a:xfrm>
          <a:prstGeom prst="rect">
            <a:avLst/>
          </a:prstGeom>
          <a:solidFill>
            <a:srgbClr val="1E2D4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31520" y="2633472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Canal (FEC)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633472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Repetição (R = 1/3)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2971800"/>
            <a:ext cx="8046720" cy="338328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31520" y="2971800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DNN (Ocultas)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2971800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256, 128, 64 neurônios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310128"/>
            <a:ext cx="8046720" cy="338328"/>
          </a:xfrm>
          <a:prstGeom prst="rect">
            <a:avLst/>
          </a:prstGeom>
          <a:solidFill>
            <a:srgbClr val="1E2D4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31520" y="3310128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(Ocultas / Saída)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3310128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 / Sigmoid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648456"/>
            <a:ext cx="8046720" cy="338328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731520" y="3648456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Otimizador / Learning Rate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3648456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 / 0.001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3986784"/>
            <a:ext cx="8046720" cy="338328"/>
          </a:xfrm>
          <a:prstGeom prst="rect">
            <a:avLst/>
          </a:prstGeom>
          <a:solidFill>
            <a:srgbClr val="1E2D4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731520" y="3986784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de Treinamento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3986784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dB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4325112"/>
            <a:ext cx="8046720" cy="338328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731520" y="4325112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Épocas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0" y="4325112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Ferramentas: PyTorch + Simulações de Monte Carlo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UFAPE | Segurança da Informação | 2025.2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ROBUSTEZ SOB INCERTEZA DE CSI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4572000" cy="347472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Inserir Figura 1 ]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non_linear_stress_test_zf.png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vs. Erro de Estimação de Canal (σe)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0" y="1005840"/>
            <a:ext cx="3383280" cy="54864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394960" y="100584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623560" y="1051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ZF Hardware Impaired: pior desempenho (Error Floor)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94960" y="1691640"/>
            <a:ext cx="3383280" cy="54864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394960" y="1691640"/>
            <a:ext cx="54864" cy="5486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62356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perfeita (σe=0): DNN (2.07%) ≈ ML (2.04%)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4960" y="2377440"/>
            <a:ext cx="3383280" cy="54864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394960" y="237744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623560" y="2423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incerteza (σe≥0.3): DNN SUPERA o ML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94960" y="3063240"/>
            <a:ext cx="3383280" cy="54864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5394960" y="3063240"/>
            <a:ext cx="54864" cy="5486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62356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é o único tolerante à tripla convergência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54864" cy="3200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822960" y="4343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PRINCIPAL: A DNN é o único algoritmo funcional sob alta incerteza de CSI + distorção HPA</a:t>
            </a:r>
            <a:endParaRPr lang="en-US" sz="1000" dirty="0"/>
          </a:p>
        </p:txBody>
      </p:sp>
      <p:pic>
        <p:nvPicPr>
          <p:cNvPr id="25" name="Imagem 24" descr="Gráfico&#10;&#10;O conteúdo gerado por IA pode estar incorreto.">
            <a:extLst>
              <a:ext uri="{FF2B5EF4-FFF2-40B4-BE49-F238E27FC236}">
                <a16:creationId xmlns:a16="http://schemas.microsoft.com/office/drawing/2014/main" id="{C1218472-6A4A-0D10-6161-9E8CEF41D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971550"/>
            <a:ext cx="3943350" cy="23660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UFAPE | Segurança da Informação | 2025.2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ISOLAMENTO CRIPTOGRÁFICO (SECRECY GAP)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4572000" cy="347472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Inserir Figura 2 ]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non_linear_comparative_result.png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vs. SNR (dB)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0" y="1005840"/>
            <a:ext cx="3383280" cy="54864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394960" y="100584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623560" y="1051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 (tracejada vermelha): BER ≈ 50% → sigilo perfeito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94960" y="1691640"/>
            <a:ext cx="3383280" cy="54864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394960" y="1691640"/>
            <a:ext cx="54864" cy="5486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62356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DNN NL: BER decai com SNR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4960" y="2377440"/>
            <a:ext cx="3383280" cy="54864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394960" y="2377440"/>
            <a:ext cx="54864" cy="5486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623560" y="2423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DNN NL + FEC: BER → 0 a partir de 20 dB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94960" y="3063240"/>
            <a:ext cx="3383280" cy="54864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5394960" y="3063240"/>
            <a:ext cx="54864" cy="5486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62356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Secrecy Gap mantido em todas as faixas de SNR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54864" cy="3200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822960" y="4343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PLS validado como blindagem criptográfica autossuficiente na Camada 1</a:t>
            </a:r>
            <a:endParaRPr lang="en-US" sz="1000" dirty="0"/>
          </a:p>
        </p:txBody>
      </p:sp>
      <p:pic>
        <p:nvPicPr>
          <p:cNvPr id="25" name="Imagem 24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70AB1DFB-6180-C79C-57BD-67B786C2E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611" y="944880"/>
            <a:ext cx="3614057" cy="25298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UFAPE | Segurança da Informação | 2025.2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VALIDAÇÃO — CENÁRIO LINEAR (BASELINE)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4572000" cy="320040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Inserir Gráfico 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linear_comparative_result.png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94960" y="914400"/>
            <a:ext cx="54864" cy="50292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623560" y="914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BPSK sem distorção HPA (baseline)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94960" y="1645920"/>
            <a:ext cx="54864" cy="50292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623560" y="1645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empata com ZF em condições ideais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2377440"/>
            <a:ext cx="54864" cy="50292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623560" y="2377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que a DNN não degrada performance em cenários simples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3108960"/>
            <a:ext cx="54864" cy="50292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623560" y="3108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 mantida em BER ~50% (sigilo preservado)</a:t>
            </a:r>
            <a:endParaRPr lang="en-US" sz="1100" dirty="0"/>
          </a:p>
        </p:txBody>
      </p:sp>
      <p:pic>
        <p:nvPicPr>
          <p:cNvPr id="17" name="Imagem 16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3BBCE9D5-0404-8410-81A4-473F84C0E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113" y="983742"/>
            <a:ext cx="4081054" cy="285673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UFAPE | Segurança da Informação | 2025.2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CONCLUSÃO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8046720" cy="100584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77240" y="1097280"/>
            <a:ext cx="457200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14300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20240" y="10515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Vulnerabilidade Comprovada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920240" y="14173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Receptores clássicos (ZF e ML) falham sob HPA + CSI imperfeita em cenários 6G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148840"/>
            <a:ext cx="8046720" cy="100584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548640" y="2148840"/>
            <a:ext cx="54864" cy="10058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777240" y="2331720"/>
            <a:ext cx="457200" cy="4572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7772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37744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920240" y="22860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DNN como Solução Definitiva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920240" y="26517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Soft-Demapping neural empata com ML sob CSI perfeita e SUPERA sob alta incerteza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640" y="3383280"/>
            <a:ext cx="8046720" cy="100584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7"/>
          <p:cNvSpPr/>
          <p:nvPr/>
        </p:nvSpPr>
        <p:spPr>
          <a:xfrm>
            <a:off x="548640" y="3383280"/>
            <a:ext cx="54864" cy="10058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8"/>
          <p:cNvSpPr/>
          <p:nvPr/>
        </p:nvSpPr>
        <p:spPr>
          <a:xfrm>
            <a:off x="777240" y="3566160"/>
            <a:ext cx="45720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19"/>
          <p:cNvSpPr/>
          <p:nvPr/>
        </p:nvSpPr>
        <p:spPr>
          <a:xfrm>
            <a:off x="7772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611880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920240" y="35204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Secrecy Gap Consolidado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920240" y="38862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+ FEC: BER = 0 para Bob | BER = 50% para Eve → PLS viável na Camada 1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UFAPE | Segurança da Informação | 2025.2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TRABALHOS FUTUROS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8046720" cy="100584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54864" cy="10058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1887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0515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Expansão para MIMO Massivo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63040" y="1417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da compensação espacial de redes neurais sob beamforming e interferências correlacionadas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148840"/>
            <a:ext cx="8046720" cy="100584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548640" y="2148840"/>
            <a:ext cx="54864" cy="10058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42316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22860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Complexidade Temporal (Série de Volterra)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463040" y="26517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Arquiteturas recorrentes para compensação de ISI em circuitos de ultra-banda-larga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383280"/>
            <a:ext cx="8046720" cy="100584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548640" y="3383280"/>
            <a:ext cx="54864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65760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35204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Resiliência Contra Adversários Ativos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463040" y="38862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tests com Smart Jamming e Spoofing de pilotos CSI no ambiente V2X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UFAPE | Segurança da Informação | 2025.2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CÓDIGO-FONTE E REPRODUTIBILIDADE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8046720" cy="91440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54864" cy="9144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0515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005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github.com/Fernando7492/projeto-devops-time-SI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25880" y="1371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 |  PyTorch  |  NumPy  |  SciPy  |  Matplotlib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011680"/>
            <a:ext cx="3931920" cy="201168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77724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COMO REPRODUZIR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" y="2468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https://github.com/...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77240" y="2743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projeto-devops-time-SI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7240" y="3017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pip install -r requirements.txt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77240" y="3291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src/main.py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77240" y="3566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Resultados em results/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754880" y="2011680"/>
            <a:ext cx="3840480" cy="2011680"/>
          </a:xfrm>
          <a:prstGeom prst="rect">
            <a:avLst/>
          </a:prstGeom>
          <a:solidFill>
            <a:srgbClr val="1E2D42"/>
          </a:solidFill>
          <a:ln w="6350">
            <a:solidFill>
              <a:srgbClr val="2A3A5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498348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ESTRUTURA MODULAR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983480" y="2514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src/linear/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983480" y="27432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BPSK (baseline)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983480" y="2971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src/non_linear/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983480" y="3200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16-QAM + HPA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983480" y="3429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results/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983480" y="36576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automáticos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4864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 de versão final: v1.0-final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UFAPE | Segurança da Informação | 2025.2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REFERÊNCIAS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8046720" cy="438912"/>
          </a:xfrm>
          <a:prstGeom prst="rect">
            <a:avLst/>
          </a:prstGeom>
          <a:solidFill>
            <a:srgbClr val="1E2D4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54864" cy="43891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77240" y="91440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3GPP TR 37.885, V2X, 2019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389888"/>
            <a:ext cx="8046720" cy="438912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48640" y="1389888"/>
            <a:ext cx="54864" cy="43891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7240" y="138988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Abdel Hakeem et al., Security 6G, Electronics, 2022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865376"/>
            <a:ext cx="8046720" cy="438912"/>
          </a:xfrm>
          <a:prstGeom prst="rect">
            <a:avLst/>
          </a:prstGeom>
          <a:solidFill>
            <a:srgbClr val="1E2D4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48640" y="1865376"/>
            <a:ext cx="54864" cy="43891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77240" y="1865376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Kim et al., DL Signal Detection + HPA, IEEE WCL, 2020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340864"/>
            <a:ext cx="8046720" cy="438912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48640" y="2340864"/>
            <a:ext cx="54864" cy="43891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77240" y="2340864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Bloch &amp; Barros, Physical-Layer Security, 2011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816352"/>
            <a:ext cx="8046720" cy="438912"/>
          </a:xfrm>
          <a:prstGeom prst="rect">
            <a:avLst/>
          </a:prstGeom>
          <a:solidFill>
            <a:srgbClr val="1E2D4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548640" y="2816352"/>
            <a:ext cx="54864" cy="43891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77240" y="2816352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O'Shea &amp; Hoydis, DL for Physical Layer, IEEE TCCN, 2017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291840"/>
            <a:ext cx="8046720" cy="438912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548640" y="3291840"/>
            <a:ext cx="54864" cy="43891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77240" y="329184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Ye et al., DL Channel Estimation OFDM, IEEE WCL, 2018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767328"/>
            <a:ext cx="8046720" cy="438912"/>
          </a:xfrm>
          <a:prstGeom prst="rect">
            <a:avLst/>
          </a:prstGeom>
          <a:solidFill>
            <a:srgbClr val="1E2D4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548640" y="3767328"/>
            <a:ext cx="54864" cy="43891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77240" y="376732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Ara &amp; Kelley, PLS for 6G Layer-1, IEEE Access, 2024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0D4AA">
              <a:alpha val="7000"/>
            </a:srgbClr>
          </a:solidFill>
          <a:ln w="63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3B82F6">
              <a:alpha val="7000"/>
            </a:srgbClr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914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Obrigado!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0" y="1691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0" y="2468880"/>
            <a:ext cx="1828800" cy="2743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Federal do Agreste de Pernambuco (UFAPE)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3063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Orientador: Prof. Sergio Mendonça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0" y="3520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Emidio  ·  Emanuel Reino  ·  Pedro William  ·  Gustavo Wanderley  ·  Pedro José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4023360"/>
            <a:ext cx="274320" cy="274320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4023360"/>
            <a:ext cx="274320" cy="274320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02336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1612</Words>
  <Application>Microsoft Office PowerPoint</Application>
  <PresentationFormat>Apresentação na tela (16:9)</PresentationFormat>
  <Paragraphs>316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Resiliência de Camada Física em Redes 6G</dc:title>
  <dc:subject>PptxGenJS Presentation</dc:subject>
  <dc:creator>Fernando Emidio et al.</dc:creator>
  <cp:lastModifiedBy>Gustavo Wanderley</cp:lastModifiedBy>
  <cp:revision>3</cp:revision>
  <dcterms:created xsi:type="dcterms:W3CDTF">2026-02-26T18:24:16Z</dcterms:created>
  <dcterms:modified xsi:type="dcterms:W3CDTF">2026-02-26T18:35:40Z</dcterms:modified>
</cp:coreProperties>
</file>